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E1C3AF-FCA2-497D-8278-81547C68AE97}">
  <a:tblStyle styleId="{CBE1C3AF-FCA2-497D-8278-81547C68AE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o contexto da indústria vitivinícola. Avaliação sensorial é subjetiva e cara. Nosso projeto mostra que dados químicos coletados durante a produção são suficientes para prever a qualidade.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4e68868c9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f4e68868c9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o contexto da indústria vitivinícola. Avaliação sensorial é subjetiva e cara. Nosso projeto mostra que dados químicos coletados durante a produção são suficientes para prever a qualidade.</a:t>
            </a:r>
            <a:endParaRPr/>
          </a:p>
        </p:txBody>
      </p:sp>
      <p:sp>
        <p:nvSpPr>
          <p:cNvPr id="26" name="Google Shape;26;g3f4e68868c9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Enfatize que não estamos substituindo o enólogo — estamos dando a ele uma ferramenta de triagem. Os lotes classificados como alta qualidade pelo modelo vão para avaliação detalhada; os comuns seguem o processo padrão.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 que o dataset não tem nulos — uma raridade em projetos reais. A variável 'qualidade' é nossa variável alvo; todas as outras são entradas do modelo.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insight mais importante do dataset. Enfatize para os diretores que uma acurácia alta não significa um modelo bom quando as classes são tão desiguais.</a:t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 os quatro primeiros: álcool e acidez volátil são os mais poderosos. Açúcar residual e pH quase não se correlacionam com a qualidade — serão menos úteis para o modelo.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álcool é resultado direto da fermentação dos açúcares da uva. Uma fermentação mais completa indica uvas mais maduras e processo mais bem conduzido.</a:t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Acidez volátil mede principalmente ácido acético — o mesmo do vinagre. Um sommelier descartaria imediatamente um vinho com gosto de vinagre. O modelo aprendeu exatamente isso.</a:t>
            </a:r>
            <a:endParaRPr/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mostra o panorama completo. Chame atenção para ácido cítrico — a maior diferença relativa. É o componente que dá frescor ao vinho e aparece em quantidade muito maior nos vinhos bons.</a:t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Winsorização é como definir um limite razoável de velocidade: em vez de eliminar carros muito rápidos, você os limita ao máximo permitido. Os vinhos continuam no dataset, mas com valores mais realistas.</a:t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linguagem executiva: testamos três abordagens. O Random Forest é como uma comissão de especialistas votando — 200 avaliadores independentes chegam a um consenso mais robusto do que qualquer um sozinho.</a:t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slide mais importante para os diretores. Conecte cada recomendação a uma ação concreta que o time de produção pode implementar nos próximos meses.</a:t>
            </a:r>
            <a:endParaRPr/>
          </a:p>
        </p:txBody>
      </p:sp>
      <p:sp>
        <p:nvSpPr>
          <p:cNvPr id="293" name="Google Shape;2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Feche com a mensagem principal: não estamos substituindo o enólogo — estamos dando a ele superpoderes. Com quatro medições de rotina, ele sabe antes de abrir a barrica se o lote tem potencial de alta qualidade.</a:t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1A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1418006"/>
            <a:ext cx="4572000" cy="4572000"/>
          </a:xfrm>
          <a:prstGeom prst="ellipse">
            <a:avLst/>
          </a:prstGeom>
          <a:solidFill>
            <a:srgbClr val="8B2346">
              <a:alpha val="40000"/>
            </a:srgbClr>
          </a:solidFill>
          <a:ln cap="flat" cmpd="sng" w="12700">
            <a:solidFill>
              <a:srgbClr val="8B23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-777926"/>
            <a:ext cx="2926200" cy="2926200"/>
          </a:xfrm>
          <a:prstGeom prst="ellipse">
            <a:avLst/>
          </a:prstGeom>
          <a:solidFill>
            <a:srgbClr val="A83358">
              <a:alpha val="45098"/>
            </a:srgbClr>
          </a:solidFill>
          <a:ln cap="flat" cmpd="sng" w="12700">
            <a:solidFill>
              <a:srgbClr val="A8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593674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Classificando a Qualidade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325194"/>
            <a:ext cx="8046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EED9DF"/>
                </a:solidFill>
                <a:latin typeface="Cambria"/>
                <a:ea typeface="Cambria"/>
                <a:cs typeface="Cambria"/>
                <a:sym typeface="Cambria"/>
              </a:rPr>
              <a:t>de Vinhos com Machine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548640" y="2129866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548640" y="2487252"/>
            <a:ext cx="804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Análise Exploratória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Apresentação Executiva · POSTECH Tech Challenge Fase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99100" y="3388029"/>
            <a:ext cx="80466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D4B8C0"/>
                </a:solidFill>
              </a:rPr>
              <a:t>Grupo 7:</a:t>
            </a:r>
            <a:endParaRPr b="1">
              <a:solidFill>
                <a:srgbClr val="D4B8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Camila de Oliveira - RM 371409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Lucas Zucoloto Soares Valbusa - RM 373425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Luysa Brito de Paiva Lima - RM 373813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Tatiana Regina da Silva  - RM 373518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Vanessa Gomes Cardoso - RM 373426</a:t>
            </a:r>
            <a:endParaRPr sz="1200">
              <a:solidFill>
                <a:srgbClr val="D4B8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1A36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217920" y="-966614"/>
            <a:ext cx="4572000" cy="4572000"/>
          </a:xfrm>
          <a:prstGeom prst="ellipse">
            <a:avLst/>
          </a:prstGeom>
          <a:solidFill>
            <a:srgbClr val="8B2346">
              <a:alpha val="40000"/>
            </a:srgbClr>
          </a:solidFill>
          <a:ln cap="flat" cmpd="sng" w="12700">
            <a:solidFill>
              <a:srgbClr val="8B23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858000" y="-326534"/>
            <a:ext cx="2926200" cy="2926200"/>
          </a:xfrm>
          <a:prstGeom prst="ellipse">
            <a:avLst/>
          </a:prstGeom>
          <a:solidFill>
            <a:srgbClr val="A83358">
              <a:alpha val="45100"/>
            </a:srgbClr>
          </a:solidFill>
          <a:ln cap="flat" cmpd="sng" w="12700">
            <a:solidFill>
              <a:srgbClr val="A8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48640" y="1045066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Classificando a Qualidade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776586"/>
            <a:ext cx="8046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EED9DF"/>
                </a:solidFill>
                <a:latin typeface="Cambria"/>
                <a:ea typeface="Cambria"/>
                <a:cs typeface="Cambria"/>
                <a:sym typeface="Cambria"/>
              </a:rPr>
              <a:t>de Vinhos com Machine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548640" y="2581258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/>
          <p:nvPr/>
        </p:nvSpPr>
        <p:spPr>
          <a:xfrm>
            <a:off x="548640" y="2736706"/>
            <a:ext cx="804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Análise Exploratória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Apresentação Executiva · POSTECH Tech Challenge Fase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3587098"/>
            <a:ext cx="2176200" cy="411600"/>
          </a:xfrm>
          <a:prstGeom prst="roundRect">
            <a:avLst>
              <a:gd fmla="val 17778" name="adj"/>
            </a:avLst>
          </a:prstGeom>
          <a:solidFill>
            <a:srgbClr val="8B2346">
              <a:alpha val="70200"/>
            </a:srgbClr>
          </a:solidFill>
          <a:ln cap="flat" cmpd="sng" w="101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3587098"/>
            <a:ext cx="217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1.143 vinhos analisados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880360" y="3587098"/>
            <a:ext cx="2176200" cy="411600"/>
          </a:xfrm>
          <a:prstGeom prst="roundRect">
            <a:avLst>
              <a:gd fmla="val 17778" name="adj"/>
            </a:avLst>
          </a:prstGeom>
          <a:solidFill>
            <a:srgbClr val="8B2346">
              <a:alpha val="70200"/>
            </a:srgbClr>
          </a:solidFill>
          <a:ln cap="flat" cmpd="sng" w="101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880360" y="3587098"/>
            <a:ext cx="217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 variáveis físico-químicas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577840" y="3587098"/>
            <a:ext cx="2176200" cy="411600"/>
          </a:xfrm>
          <a:prstGeom prst="roundRect">
            <a:avLst>
              <a:gd fmla="val 17778" name="adj"/>
            </a:avLst>
          </a:prstGeom>
          <a:solidFill>
            <a:srgbClr val="8B2346">
              <a:alpha val="70200"/>
            </a:srgbClr>
          </a:solidFill>
          <a:ln cap="flat" cmpd="sng" w="101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577840" y="3587098"/>
            <a:ext cx="217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modelos comparados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problema que queremos resolver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Contexto da indústria vitivinícola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02920" y="12984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O desafio atual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1783080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Qualidade avaliada por especialistas humanos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Processo subjetivo — depende da experiência do enólogo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Demorado e custoso para escalar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Difícil de padronizar entre lotes e safras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983480" y="12984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B6D11"/>
                </a:solidFill>
                <a:latin typeface="Cambria"/>
                <a:ea typeface="Cambria"/>
                <a:cs typeface="Cambria"/>
                <a:sym typeface="Cambria"/>
              </a:rPr>
              <a:t>A solução proposta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83480" y="1783080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Usar dados físico-químicos de rotina (pH, álcool, acidez...)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Treinar um modelo de Machine Learning para classificar a qualidade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Prever: alta qualidade (nota ≥ 7) ou baixa/média (nota &lt; 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45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Triagem automática antes da avaliação sensorial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4407408" y="2743200"/>
            <a:ext cx="329184" cy="0"/>
          </a:xfrm>
          <a:prstGeom prst="straightConnector1">
            <a:avLst/>
          </a:prstGeom>
          <a:noFill/>
          <a:ln cap="flat" cmpd="sng" w="15225">
            <a:solidFill>
              <a:srgbClr val="8C809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/>
          <p:nvPr/>
        </p:nvSpPr>
        <p:spPr>
          <a:xfrm>
            <a:off x="4315968" y="24871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A267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Os dados que temos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Wine Quality Dataset — Kaggle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74320" y="1143000"/>
            <a:ext cx="192024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274320" y="12527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1.143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74320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amostras de vinho tinto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395728" y="1143000"/>
            <a:ext cx="192024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2395728" y="12527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395728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variáveis físico-químicas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17136" y="1143000"/>
            <a:ext cx="192024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4517136" y="12527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3–8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17136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escala de notas de qualidade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638544" y="1143000"/>
            <a:ext cx="192024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6638544" y="12527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638544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valores nulos — dataset limpo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74320" y="2542032"/>
            <a:ext cx="859536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02920" y="267004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Variáveis disponíveis no dataset: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84048" y="3072384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84048" y="3072384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Acidez fixa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514600" y="3072384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514600" y="3072384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Acidez volátil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645152" y="3072384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645152" y="3072384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Ácido cítrico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775704" y="3072384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775704" y="3072384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Açúcar residual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84048" y="3602736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84048" y="360273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Cloretos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514600" y="3602736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514600" y="360273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SO₂ livre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45152" y="3602736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645152" y="360273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SO₂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75704" y="3602736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775704" y="360273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Densidade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84048" y="4133088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84048" y="413308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514600" y="4133088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514600" y="413308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Sulfatos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45152" y="4133088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F0E8ED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645152" y="413308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Teor alcoólico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775704" y="4133088"/>
            <a:ext cx="2011680" cy="420624"/>
          </a:xfrm>
          <a:prstGeom prst="roundRect">
            <a:avLst>
              <a:gd fmla="val 13043" name="adj"/>
            </a:avLst>
          </a:prstGeom>
          <a:solidFill>
            <a:srgbClr val="6D1A36"/>
          </a:solidFill>
          <a:ln cap="flat" cmpd="sng" w="9525">
            <a:solidFill>
              <a:srgbClr val="6D1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775704" y="413308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Qualidade (alvo)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Simplificando a pergunta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De notas numéricas para uma decisão binária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74320" y="1143000"/>
            <a:ext cx="42062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Transformação da variável alvo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02920" y="1719072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3B6D11">
              <a:alpha val="85098"/>
            </a:srgbClr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02920" y="175564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 ≥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2920" y="21031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 qualidade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423160" y="1719072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A32D2D">
              <a:alpha val="85098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423160" y="175564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 &lt;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423160" y="21031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Baixa/Média qualidade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709160" y="1143000"/>
            <a:ext cx="416052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937760" y="1280160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Distribuição das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572768"/>
            <a:ext cx="416052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02920" y="30632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A32D2D"/>
                </a:solidFill>
                <a:latin typeface="Cambria"/>
                <a:ea typeface="Cambria"/>
                <a:cs typeface="Cambria"/>
                <a:sym typeface="Cambria"/>
              </a:rPr>
              <a:t>⚠  Atenção: dataset desbalanceado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" y="3456432"/>
            <a:ext cx="3749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Apenas 13,9% dos vinhos são de alta qualidade. Sem tratamento, o modelo aprenderia a sempre responder "baixo/médio" e ainda teria 86% de acurácia aparente — mas seria inútil.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Quais variáveis mais influenciam a qualidade?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Correlação de Pearson com a nota de qualidade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74320" y="1115568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274320" y="1152144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Teor alcoólico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606040" y="1179576"/>
            <a:ext cx="3474720" cy="196596"/>
          </a:xfrm>
          <a:prstGeom prst="roundRect">
            <a:avLst>
              <a:gd fmla="val 18605" name="adj"/>
            </a:avLst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144768" y="1152144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6D11"/>
                </a:solidFill>
                <a:latin typeface="Arial"/>
                <a:ea typeface="Arial"/>
                <a:cs typeface="Arial"/>
                <a:sym typeface="Arial"/>
              </a:rPr>
              <a:t>+0.484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74320" y="1476756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Acidez volátil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606040" y="1504188"/>
            <a:ext cx="2921924" cy="196596"/>
          </a:xfrm>
          <a:prstGeom prst="roundRect">
            <a:avLst>
              <a:gd fmla="val 18605" name="adj"/>
            </a:avLst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144768" y="1476756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-0.407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74320" y="1764792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74320" y="1801368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Sulfatos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606040" y="1828800"/>
            <a:ext cx="1845048" cy="196596"/>
          </a:xfrm>
          <a:prstGeom prst="roundRect">
            <a:avLst>
              <a:gd fmla="val 18605" name="adj"/>
            </a:avLst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144768" y="1801368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6D11"/>
                </a:solidFill>
                <a:latin typeface="Arial"/>
                <a:ea typeface="Arial"/>
                <a:cs typeface="Arial"/>
                <a:sym typeface="Arial"/>
              </a:rPr>
              <a:t>+0.257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74320" y="2125980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Ácido cítrico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606040" y="2153412"/>
            <a:ext cx="1730181" cy="196596"/>
          </a:xfrm>
          <a:prstGeom prst="roundRect">
            <a:avLst>
              <a:gd fmla="val 18605" name="adj"/>
            </a:avLst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144768" y="2125980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6D11"/>
                </a:solidFill>
                <a:latin typeface="Arial"/>
                <a:ea typeface="Arial"/>
                <a:cs typeface="Arial"/>
                <a:sym typeface="Arial"/>
              </a:rPr>
              <a:t>+0.241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74320" y="2414016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74320" y="2450592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SO₂ total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606040" y="2478024"/>
            <a:ext cx="1313789" cy="196596"/>
          </a:xfrm>
          <a:prstGeom prst="roundRect">
            <a:avLst>
              <a:gd fmla="val 18605" name="adj"/>
            </a:avLst>
          </a:prstGeom>
          <a:solidFill>
            <a:srgbClr val="A32D2D">
              <a:alpha val="70196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144768" y="2450592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-0.183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74320" y="2775204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Densidade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606040" y="2802636"/>
            <a:ext cx="1256355" cy="196596"/>
          </a:xfrm>
          <a:prstGeom prst="roundRect">
            <a:avLst>
              <a:gd fmla="val 18605" name="adj"/>
            </a:avLst>
          </a:prstGeom>
          <a:solidFill>
            <a:srgbClr val="A32D2D">
              <a:alpha val="70196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144768" y="2775204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-0.175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74320" y="3063240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274320" y="3099816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Cloretos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606040" y="3127248"/>
            <a:ext cx="890218" cy="196596"/>
          </a:xfrm>
          <a:prstGeom prst="roundRect">
            <a:avLst>
              <a:gd fmla="val 18605" name="adj"/>
            </a:avLst>
          </a:prstGeom>
          <a:solidFill>
            <a:srgbClr val="A32D2D">
              <a:alpha val="70196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144768" y="3099816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-0.124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74320" y="3424428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Acidez fixa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606040" y="3451860"/>
            <a:ext cx="875859" cy="196596"/>
          </a:xfrm>
          <a:prstGeom prst="roundRect">
            <a:avLst>
              <a:gd fmla="val 18605" name="adj"/>
            </a:avLst>
          </a:prstGeom>
          <a:solidFill>
            <a:srgbClr val="3B6D11">
              <a:alpha val="70196"/>
            </a:srgbClr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144768" y="3424428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6D11"/>
                </a:solidFill>
                <a:latin typeface="Arial"/>
                <a:ea typeface="Arial"/>
                <a:cs typeface="Arial"/>
                <a:sym typeface="Arial"/>
              </a:rPr>
              <a:t>+0.122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4320" y="3712464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74320" y="3749040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SO₂ livre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606040" y="3776472"/>
            <a:ext cx="452288" cy="196596"/>
          </a:xfrm>
          <a:prstGeom prst="roundRect">
            <a:avLst>
              <a:gd fmla="val 18605" name="adj"/>
            </a:avLst>
          </a:prstGeom>
          <a:solidFill>
            <a:srgbClr val="A32D2D">
              <a:alpha val="70196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144768" y="3749040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-0.063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74320" y="4073652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606040" y="4101084"/>
            <a:ext cx="373317" cy="196596"/>
          </a:xfrm>
          <a:prstGeom prst="roundRect">
            <a:avLst>
              <a:gd fmla="val 18605" name="adj"/>
            </a:avLst>
          </a:prstGeom>
          <a:solidFill>
            <a:srgbClr val="A32D2D">
              <a:alpha val="70196"/>
            </a:srgbClr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144768" y="4073652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2D2D"/>
                </a:solidFill>
                <a:latin typeface="Arial"/>
                <a:ea typeface="Arial"/>
                <a:cs typeface="Arial"/>
                <a:sym typeface="Arial"/>
              </a:rPr>
              <a:t>-0.052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74320" y="4361688"/>
            <a:ext cx="8595360" cy="324612"/>
          </a:xfrm>
          <a:prstGeom prst="rect">
            <a:avLst/>
          </a:prstGeom>
          <a:solidFill>
            <a:srgbClr val="F0E8ED">
              <a:alpha val="50196"/>
            </a:srgbClr>
          </a:solidFill>
          <a:ln cap="flat" cmpd="sng" w="12700">
            <a:solidFill>
              <a:srgbClr val="F0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274320" y="4398264"/>
            <a:ext cx="22402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Açúcar residual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606040" y="4425696"/>
            <a:ext cx="157942" cy="196596"/>
          </a:xfrm>
          <a:prstGeom prst="roundRect">
            <a:avLst>
              <a:gd fmla="val 23158" name="adj"/>
            </a:avLst>
          </a:prstGeom>
          <a:solidFill>
            <a:srgbClr val="3B6D11">
              <a:alpha val="70196"/>
            </a:srgbClr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144768" y="4398264"/>
            <a:ext cx="777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6D11"/>
                </a:solidFill>
                <a:latin typeface="Arial"/>
                <a:ea typeface="Arial"/>
                <a:cs typeface="Arial"/>
                <a:sym typeface="Arial"/>
              </a:rPr>
              <a:t>+0.022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74320" y="4681728"/>
            <a:ext cx="256032" cy="219456"/>
          </a:xfrm>
          <a:prstGeom prst="rect">
            <a:avLst/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94360" y="46634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Correlação positiva — mais desse componente → vinho melhor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0" y="4681728"/>
            <a:ext cx="256032" cy="219456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892040" y="46634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Correlação negativa — mais desse componente → vinho pior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Teor alcoólico: o maior indicador de qualidade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Correlação +0,484 com a qualidade — 23,6% de importância no modelo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15568"/>
            <a:ext cx="530352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5760720" y="1115568"/>
            <a:ext cx="3108960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760720" y="11887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11,5%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760720" y="1691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Média de álcool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nos vinhos bons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760720" y="2377440"/>
            <a:ext cx="3108960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760720" y="245059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3B6D11"/>
                </a:solidFill>
                <a:latin typeface="Cambria"/>
                <a:ea typeface="Cambria"/>
                <a:cs typeface="Cambria"/>
                <a:sym typeface="Cambria"/>
              </a:rPr>
              <a:t>72%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760720" y="29535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dos vinhos bons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com álcool &gt; 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760720" y="3639312"/>
            <a:ext cx="3108960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760720" y="3712464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#1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760720" y="42153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variável 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importante no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760720" y="4114800"/>
            <a:ext cx="310896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76072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1A36"/>
                </a:solidFill>
                <a:latin typeface="Arial"/>
                <a:ea typeface="Arial"/>
                <a:cs typeface="Arial"/>
                <a:sym typeface="Arial"/>
              </a:rPr>
              <a:t>Implicação para produção: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760720" y="4425696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Monitorar o álcool ao final da fermentação. Lotes abaixo de 10,5% merecem revisão.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Acidez volátil: o principal sinal de defeito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Correlação -0,407 — vinhos bons têm 29% menos acidez volátil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274320" y="1143000"/>
            <a:ext cx="416052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02920" y="126187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Vinhos de ALTA qualidade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02920" y="1609344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0,40 g/L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21031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média de acidez volátil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709160" y="1143000"/>
            <a:ext cx="416052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937760" y="126187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8C8098"/>
                </a:solidFill>
                <a:latin typeface="Cambria"/>
                <a:ea typeface="Cambria"/>
                <a:cs typeface="Cambria"/>
                <a:sym typeface="Cambria"/>
              </a:rPr>
              <a:t>Vinhos de BAIXA qualidade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937760" y="1609344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8C8098"/>
                </a:solidFill>
                <a:latin typeface="Cambria"/>
                <a:ea typeface="Cambria"/>
                <a:cs typeface="Cambria"/>
                <a:sym typeface="Cambria"/>
              </a:rPr>
              <a:t>0,55 g/L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937760" y="21031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média de acidez volátil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749040" y="1554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A32D2D"/>
                </a:solidFill>
                <a:latin typeface="Cambria"/>
                <a:ea typeface="Cambria"/>
                <a:cs typeface="Cambria"/>
                <a:sym typeface="Cambria"/>
              </a:rPr>
              <a:t>−29%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834640"/>
            <a:ext cx="530352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5760720" y="2834640"/>
            <a:ext cx="310896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943600" y="29443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A32D2D"/>
                </a:solidFill>
                <a:latin typeface="Cambria"/>
                <a:ea typeface="Cambria"/>
                <a:cs typeface="Cambria"/>
                <a:sym typeface="Cambria"/>
              </a:rPr>
              <a:t>O que causa acidez volátil alta?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943600" y="3364992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Contaminação bacteriana durante a fermentação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45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Oxidação do vinho sem proteção adequada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45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Higiene insuficiente nos equipamentos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Comparativo completo: vinhos bons vs comuns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Diferença percentual na média de cada variável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15568"/>
            <a:ext cx="566928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6126480" y="11155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Legenda: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126480" y="1481328"/>
            <a:ext cx="256032" cy="219456"/>
          </a:xfrm>
          <a:prstGeom prst="rect">
            <a:avLst/>
          </a:prstGeom>
          <a:solidFill>
            <a:srgbClr val="6D1A36"/>
          </a:solidFill>
          <a:ln cap="flat" cmpd="sng" w="12700">
            <a:solidFill>
              <a:srgbClr val="6D1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446520" y="14630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Vinhos bons têm MAIS desse componente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126480" y="1865376"/>
            <a:ext cx="256032" cy="219456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446520" y="18470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Vinhos bons têm MENOS desse componente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126480" y="2377440"/>
            <a:ext cx="2743200" cy="7680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309360" y="245059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🍇 Maior diferença: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309360" y="272491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Ácido cítrico (+57%) — frescor e equilíbrio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126480" y="3236976"/>
            <a:ext cx="2743200" cy="7680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309360" y="33101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⚠️ Maior risco: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309360" y="35844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Acidez volátil (-29%) — sinal de vinagre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126480" y="4096512"/>
            <a:ext cx="2743200" cy="7680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309360" y="416966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📊 Menos relevante: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309360" y="44439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pH e Densidade — diferença &lt; 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Qualidade e consistência dos dados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Análise de valores extremos e distribuição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15568"/>
            <a:ext cx="53035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/>
          <p:nvPr/>
        </p:nvSpPr>
        <p:spPr>
          <a:xfrm>
            <a:off x="5760720" y="1115568"/>
            <a:ext cx="31089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5760720" y="1115568"/>
            <a:ext cx="164592" cy="1097280"/>
          </a:xfrm>
          <a:prstGeom prst="roundRect">
            <a:avLst>
              <a:gd fmla="val 22222" name="adj"/>
            </a:avLst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5998464" y="118872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A32D2D"/>
                </a:solidFill>
                <a:latin typeface="Cambria"/>
                <a:ea typeface="Cambria"/>
                <a:cs typeface="Cambria"/>
                <a:sym typeface="Cambria"/>
              </a:rPr>
              <a:t>Crítico: açúcar e cloretos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998464" y="1517904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110 e 77 outliers respectivamente. Distribuições com assimetria severa. Tratados com Winsorização (percentil 1–99).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760720" y="2350008"/>
            <a:ext cx="31089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5760720" y="2350008"/>
            <a:ext cx="164592" cy="1097280"/>
          </a:xfrm>
          <a:prstGeom prst="roundRect">
            <a:avLst>
              <a:gd fmla="val 22222" name="adj"/>
            </a:avLst>
          </a:prstGeom>
          <a:solidFill>
            <a:srgbClr val="E08C2A"/>
          </a:solidFill>
          <a:ln cap="flat" cmpd="sng" w="12700">
            <a:solidFill>
              <a:srgbClr val="E08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5998464" y="242316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C2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08C2A"/>
                </a:solidFill>
                <a:latin typeface="Cambria"/>
                <a:ea typeface="Cambria"/>
                <a:cs typeface="Cambria"/>
                <a:sym typeface="Cambria"/>
              </a:rPr>
              <a:t>Moderado: 4 variáveis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998464" y="2752344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Sulfatos, acidez fixa, SO₂ total e densidade com outliers moderados. Normalização absorve o impacto residual.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760720" y="3584448"/>
            <a:ext cx="31089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760720" y="3584448"/>
            <a:ext cx="164592" cy="1097280"/>
          </a:xfrm>
          <a:prstGeom prst="roundRect">
            <a:avLst>
              <a:gd fmla="val 22222" name="adj"/>
            </a:avLst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5998464" y="365760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3B6D11"/>
                </a:solidFill>
                <a:latin typeface="Cambria"/>
                <a:ea typeface="Cambria"/>
                <a:cs typeface="Cambria"/>
                <a:sym typeface="Cambria"/>
              </a:rPr>
              <a:t>Ação: sem remoção de linhas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998464" y="3986784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Com apenas 1.143 amostras, optamos por ajustar os extremos em vez de remover linhas — preservando cada amostra.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modelo que desenvolvemos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Comparação entre três algoritmos de Machine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13"/>
          <p:cNvGraphicFramePr/>
          <p:nvPr/>
        </p:nvGraphicFramePr>
        <p:xfrm>
          <a:off x="274320" y="1115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{CBE1C3AF-FCA2-497D-8278-81547C68AE97}</a:tableStyleId>
              </a:tblPr>
              <a:tblGrid>
                <a:gridCol w="2560325"/>
                <a:gridCol w="1508750"/>
                <a:gridCol w="1508750"/>
                <a:gridCol w="1508750"/>
                <a:gridCol w="15087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1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1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1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1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AUC-ROC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1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0.473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0.361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0.618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0.583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45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4A44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1A36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D1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Random Forest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8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1A36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D1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8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1A36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D1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0.595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8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1A36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D1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8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1A36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D1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8ED"/>
                    </a:solidFill>
                  </a:tcPr>
                </a:tc>
              </a:tr>
            </a:tbl>
          </a:graphicData>
        </a:graphic>
      </p:graphicFrame>
      <p:pic>
        <p:nvPicPr>
          <p:cNvPr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108960"/>
            <a:ext cx="4114800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3108960"/>
            <a:ext cx="4114800" cy="178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isso significa para a produção?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D9D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ED9DF"/>
                </a:solidFill>
                <a:latin typeface="Arial"/>
                <a:ea typeface="Arial"/>
                <a:cs typeface="Arial"/>
                <a:sym typeface="Arial"/>
              </a:rPr>
              <a:t>Recomendações baseadas nos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8138160" y="4892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09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C8098"/>
                </a:solidFill>
                <a:latin typeface="Arial"/>
                <a:ea typeface="Arial"/>
                <a:cs typeface="Arial"/>
                <a:sym typeface="Arial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274320" y="111556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411480" y="12070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1115568" y="120700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Monitorar o teor alcoólico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11480" y="1664208"/>
            <a:ext cx="3858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Medir ao final da fermentação. Lotes abaixo de 10,5% têm alta probabilidade de qualidade inferior e devem ser revisados antes do envelhecimento.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11480" y="2505456"/>
            <a:ext cx="3858768" cy="256032"/>
          </a:xfrm>
          <a:prstGeom prst="roundRect">
            <a:avLst>
              <a:gd fmla="val 14286" name="adj"/>
            </a:avLst>
          </a:prstGeom>
          <a:solidFill>
            <a:srgbClr val="F0E8ED"/>
          </a:solidFill>
          <a:ln cap="flat" cmpd="sng" w="12700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411480" y="250545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1A36"/>
                </a:solidFill>
                <a:latin typeface="Arial"/>
                <a:ea typeface="Arial"/>
                <a:cs typeface="Arial"/>
                <a:sym typeface="Arial"/>
              </a:rPr>
              <a:t>Impacto: +12,3% nos vinhos bons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4709160" y="111556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4846320" y="12070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550408" y="120700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Controlar a acidez volátil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846320" y="1664208"/>
            <a:ext cx="3858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Implementar medição rotineira durante o processo. Valores acima de 0,6 g/L indicam contaminação bacteriana — intervenção precoce pode salvar o lote.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846320" y="2505456"/>
            <a:ext cx="3858768" cy="256032"/>
          </a:xfrm>
          <a:prstGeom prst="roundRect">
            <a:avLst>
              <a:gd fmla="val 14286" name="adj"/>
            </a:avLst>
          </a:prstGeom>
          <a:solidFill>
            <a:srgbClr val="F0E8ED"/>
          </a:solidFill>
          <a:ln cap="flat" cmpd="sng" w="12700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4846320" y="250545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1A36"/>
                </a:solidFill>
                <a:latin typeface="Arial"/>
                <a:ea typeface="Arial"/>
                <a:cs typeface="Arial"/>
                <a:sym typeface="Arial"/>
              </a:rPr>
              <a:t>Impacto: -28,6% nos vinhos bons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274320" y="299008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411480" y="3081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115568" y="308152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Ajustar sulfatos na faixa ideal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11480" y="3538728"/>
            <a:ext cx="3858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Manter entre 0,65 e 0,85 g/L. Abaixo disso, o vinho fica desprotegido contra oxidação. Acima, o sabor é comprometido.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11480" y="4379976"/>
            <a:ext cx="3858768" cy="256032"/>
          </a:xfrm>
          <a:prstGeom prst="roundRect">
            <a:avLst>
              <a:gd fmla="val 14286" name="adj"/>
            </a:avLst>
          </a:prstGeom>
          <a:solidFill>
            <a:srgbClr val="F0E8ED"/>
          </a:solidFill>
          <a:ln cap="flat" cmpd="sng" w="12700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411480" y="437997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1A36"/>
                </a:solidFill>
                <a:latin typeface="Arial"/>
                <a:ea typeface="Arial"/>
                <a:cs typeface="Arial"/>
                <a:sym typeface="Arial"/>
              </a:rPr>
              <a:t>Faixa ideal identificada nos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709160" y="299008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4846320" y="3081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550408" y="308152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6D1A36"/>
                </a:solidFill>
                <a:latin typeface="Cambria"/>
                <a:ea typeface="Cambria"/>
                <a:cs typeface="Cambria"/>
                <a:sym typeface="Cambria"/>
              </a:rPr>
              <a:t>Usar o modelo como triagem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846320" y="3538728"/>
            <a:ext cx="3858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453"/>
                </a:solidFill>
                <a:latin typeface="Arial"/>
                <a:ea typeface="Arial"/>
                <a:cs typeface="Arial"/>
                <a:sym typeface="Arial"/>
              </a:rPr>
              <a:t>Classificar lotes automaticamente com base em medições de rotina. Direcionar candidatos a alta qualidade para avaliação sensorial completa do enólogo.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846320" y="4379976"/>
            <a:ext cx="3858768" cy="256032"/>
          </a:xfrm>
          <a:prstGeom prst="roundRect">
            <a:avLst>
              <a:gd fmla="val 14286" name="adj"/>
            </a:avLst>
          </a:prstGeom>
          <a:solidFill>
            <a:srgbClr val="F0E8ED"/>
          </a:solidFill>
          <a:ln cap="flat" cmpd="sng" w="12700">
            <a:solidFill>
              <a:srgbClr val="E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846320" y="437997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1A3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1A36"/>
                </a:solidFill>
                <a:latin typeface="Arial"/>
                <a:ea typeface="Arial"/>
                <a:cs typeface="Arial"/>
                <a:sym typeface="Arial"/>
              </a:rPr>
              <a:t>AUC-ROC 0.918 — 92% dos comuns identificados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1A36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8B2346">
              <a:alpha val="45098"/>
            </a:srgbClr>
          </a:solidFill>
          <a:ln cap="flat" cmpd="sng" w="12700">
            <a:solidFill>
              <a:srgbClr val="8B23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8B2346">
              <a:alpha val="40000"/>
            </a:srgbClr>
          </a:solidFill>
          <a:ln cap="flat" cmpd="sng" w="12700">
            <a:solidFill>
              <a:srgbClr val="8B23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548640" y="960120"/>
            <a:ext cx="68580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Dados químicos podem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prever a qualidade do vinho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5"/>
          <p:cNvCxnSpPr/>
          <p:nvPr/>
        </p:nvCxnSpPr>
        <p:spPr>
          <a:xfrm>
            <a:off x="548640" y="2359152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5"/>
          <p:cNvSpPr/>
          <p:nvPr/>
        </p:nvSpPr>
        <p:spPr>
          <a:xfrm>
            <a:off x="548640" y="25786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0.918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48640" y="32004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AUC-ROC 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melhor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2651760" y="25786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69%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2651760" y="32004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vinhos bons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identificados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754880" y="25786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754880" y="32004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vinhos comuns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classificados certo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6858000" y="25786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6858000" y="32004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variáveis-chave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para focar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Álcool · Acidez Volátil · Sulfatos · Ácido Cítrico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48640" y="420624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BB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D4B0BB"/>
                </a:solidFill>
                <a:latin typeface="Arial"/>
                <a:ea typeface="Arial"/>
                <a:cs typeface="Arial"/>
                <a:sym typeface="Arial"/>
              </a:rPr>
              <a:t>As quatro variáveis que mais distinguem um vinho de alta qualidade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0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6070"/>
                </a:solidFill>
                <a:latin typeface="Arial"/>
                <a:ea typeface="Arial"/>
                <a:cs typeface="Arial"/>
                <a:sym typeface="Arial"/>
              </a:rPr>
              <a:t>POSTECH · Tech Challenge Fase 2 · Wine Quality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